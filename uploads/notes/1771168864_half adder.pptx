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1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1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1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1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4580" y="1816735"/>
            <a:ext cx="9633585" cy="227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1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6324" y="1816735"/>
            <a:ext cx="9996170" cy="2708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9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12188952" y="6400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3158" y="1148537"/>
            <a:ext cx="11368405" cy="2239716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873250" marR="1855470" indent="-11430" algn="ctr">
              <a:lnSpc>
                <a:spcPts val="5550"/>
              </a:lnSpc>
              <a:spcBef>
                <a:spcPts val="965"/>
              </a:spcBef>
            </a:pPr>
            <a:r>
              <a:rPr lang="en-US" sz="5300" i="0" spc="-10" dirty="0" smtClean="0">
                <a:solidFill>
                  <a:srgbClr val="404040"/>
                </a:solidFill>
                <a:latin typeface="Times New Roman"/>
                <a:cs typeface="Times New Roman"/>
              </a:rPr>
              <a:t>BCA(SCI)</a:t>
            </a:r>
            <a:r>
              <a:rPr lang="en-US" sz="5300" i="0" spc="-10" dirty="0" smtClean="0">
                <a:solidFill>
                  <a:srgbClr val="404040"/>
                </a:solidFill>
              </a:rPr>
              <a:t>FY</a:t>
            </a:r>
            <a:br>
              <a:rPr lang="en-US" sz="5300" i="0" spc="-10" dirty="0" smtClean="0">
                <a:solidFill>
                  <a:srgbClr val="404040"/>
                </a:solidFill>
              </a:rPr>
            </a:br>
            <a:r>
              <a:rPr sz="5300" i="0" spc="-135" dirty="0" smtClean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5300" i="0" spc="-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Electronics</a:t>
            </a:r>
            <a:endParaRPr sz="5300" dirty="0">
              <a:latin typeface="Times New Roman"/>
              <a:cs typeface="Times New Roman"/>
            </a:endParaRPr>
          </a:p>
          <a:p>
            <a:pPr algn="ctr">
              <a:lnSpc>
                <a:spcPts val="5345"/>
              </a:lnSpc>
            </a:pPr>
            <a:r>
              <a:rPr sz="5300" i="0" spc="-90" dirty="0">
                <a:solidFill>
                  <a:srgbClr val="404040"/>
                </a:solidFill>
                <a:latin typeface="Times New Roman"/>
                <a:cs typeface="Times New Roman"/>
              </a:rPr>
              <a:t>Topic-</a:t>
            </a:r>
            <a:r>
              <a:rPr sz="5300" i="0" spc="-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5300" i="0" spc="-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5300" i="0" spc="-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5300" i="0" spc="-1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5300" i="0" spc="-6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53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53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4844" y="3705859"/>
            <a:ext cx="4535805" cy="88075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800100">
              <a:lnSpc>
                <a:spcPct val="99400"/>
              </a:lnSpc>
              <a:spcBef>
                <a:spcPts val="114"/>
              </a:spcBef>
            </a:pPr>
            <a:r>
              <a:rPr lang="en-US" sz="2800" dirty="0" smtClean="0">
                <a:latin typeface="Times New Roman"/>
                <a:cs typeface="Times New Roman"/>
              </a:rPr>
              <a:t>MS CHANDKAR B A</a:t>
            </a:r>
          </a:p>
          <a:p>
            <a:pPr marL="12700" marR="5080" indent="800100">
              <a:lnSpc>
                <a:spcPct val="99400"/>
              </a:lnSpc>
              <a:spcBef>
                <a:spcPts val="114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8954" y="912621"/>
            <a:ext cx="3708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0" spc="-60" dirty="0">
                <a:solidFill>
                  <a:srgbClr val="404040"/>
                </a:solidFill>
                <a:latin typeface="Times New Roman"/>
                <a:cs typeface="Times New Roman"/>
              </a:rPr>
              <a:t>HA</a:t>
            </a:r>
            <a:r>
              <a:rPr sz="4800" i="0" spc="-60" dirty="0">
                <a:solidFill>
                  <a:srgbClr val="404040"/>
                </a:solidFill>
                <a:latin typeface="Times New Roman"/>
                <a:cs typeface="Times New Roman"/>
              </a:rPr>
              <a:t>LF</a:t>
            </a:r>
            <a:r>
              <a:rPr sz="4800" i="0" spc="-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800" i="0" spc="-2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indent="10160" algn="just">
              <a:lnSpc>
                <a:spcPct val="90000"/>
              </a:lnSpc>
              <a:spcBef>
                <a:spcPts val="484"/>
              </a:spcBef>
            </a:pPr>
            <a:r>
              <a:rPr dirty="0"/>
              <a:t>An</a:t>
            </a:r>
            <a:r>
              <a:rPr spc="185" dirty="0"/>
              <a:t>  </a:t>
            </a:r>
            <a:r>
              <a:rPr dirty="0"/>
              <a:t>adder</a:t>
            </a:r>
            <a:r>
              <a:rPr spc="195" dirty="0"/>
              <a:t>  </a:t>
            </a:r>
            <a:r>
              <a:rPr dirty="0"/>
              <a:t>is</a:t>
            </a:r>
            <a:r>
              <a:rPr spc="190" dirty="0"/>
              <a:t>  </a:t>
            </a:r>
            <a:r>
              <a:rPr dirty="0"/>
              <a:t>a</a:t>
            </a:r>
            <a:r>
              <a:rPr spc="190" dirty="0"/>
              <a:t>  </a:t>
            </a:r>
            <a:r>
              <a:rPr dirty="0"/>
              <a:t>digital</a:t>
            </a:r>
            <a:r>
              <a:rPr spc="185" dirty="0"/>
              <a:t>  </a:t>
            </a:r>
            <a:r>
              <a:rPr dirty="0"/>
              <a:t>circuit</a:t>
            </a:r>
            <a:r>
              <a:rPr spc="185" dirty="0"/>
              <a:t>  </a:t>
            </a:r>
            <a:r>
              <a:rPr dirty="0"/>
              <a:t>that</a:t>
            </a:r>
            <a:r>
              <a:rPr spc="185" dirty="0"/>
              <a:t>  </a:t>
            </a:r>
            <a:r>
              <a:rPr dirty="0"/>
              <a:t>performs</a:t>
            </a:r>
            <a:r>
              <a:rPr spc="195" dirty="0"/>
              <a:t>  </a:t>
            </a:r>
            <a:r>
              <a:rPr dirty="0"/>
              <a:t>addition</a:t>
            </a:r>
            <a:r>
              <a:rPr spc="185" dirty="0"/>
              <a:t>  </a:t>
            </a:r>
            <a:r>
              <a:rPr spc="-25" dirty="0"/>
              <a:t>of </a:t>
            </a:r>
            <a:r>
              <a:rPr dirty="0"/>
              <a:t>numbers.</a:t>
            </a:r>
            <a:r>
              <a:rPr spc="265" dirty="0"/>
              <a:t> </a:t>
            </a:r>
            <a:r>
              <a:rPr dirty="0"/>
              <a:t>Adders</a:t>
            </a:r>
            <a:r>
              <a:rPr spc="260" dirty="0"/>
              <a:t> </a:t>
            </a:r>
            <a:r>
              <a:rPr dirty="0"/>
              <a:t>are</a:t>
            </a:r>
            <a:r>
              <a:rPr spc="285" dirty="0"/>
              <a:t> </a:t>
            </a:r>
            <a:r>
              <a:rPr dirty="0"/>
              <a:t>classified</a:t>
            </a:r>
            <a:r>
              <a:rPr spc="280" dirty="0"/>
              <a:t> </a:t>
            </a:r>
            <a:r>
              <a:rPr dirty="0"/>
              <a:t>into</a:t>
            </a:r>
            <a:r>
              <a:rPr spc="270" dirty="0"/>
              <a:t> </a:t>
            </a:r>
            <a:r>
              <a:rPr dirty="0"/>
              <a:t>two</a:t>
            </a:r>
            <a:r>
              <a:rPr spc="275" dirty="0"/>
              <a:t> </a:t>
            </a:r>
            <a:r>
              <a:rPr dirty="0"/>
              <a:t>types</a:t>
            </a:r>
            <a:r>
              <a:rPr spc="285" dirty="0"/>
              <a:t> </a:t>
            </a:r>
            <a:r>
              <a:rPr dirty="0"/>
              <a:t>.</a:t>
            </a:r>
            <a:r>
              <a:rPr spc="280" dirty="0"/>
              <a:t> </a:t>
            </a:r>
            <a:r>
              <a:rPr dirty="0"/>
              <a:t>One</a:t>
            </a:r>
            <a:r>
              <a:rPr spc="280" dirty="0"/>
              <a:t> </a:t>
            </a:r>
            <a:r>
              <a:rPr dirty="0"/>
              <a:t>is</a:t>
            </a:r>
            <a:r>
              <a:rPr spc="280" dirty="0"/>
              <a:t> </a:t>
            </a:r>
            <a:r>
              <a:rPr spc="-20" dirty="0"/>
              <a:t>Half </a:t>
            </a:r>
            <a:r>
              <a:rPr dirty="0"/>
              <a:t>Adder,</a:t>
            </a:r>
            <a:r>
              <a:rPr spc="520" dirty="0"/>
              <a:t> </a:t>
            </a:r>
            <a:r>
              <a:rPr dirty="0"/>
              <a:t>and</a:t>
            </a:r>
            <a:r>
              <a:rPr spc="520" dirty="0"/>
              <a:t> </a:t>
            </a:r>
            <a:r>
              <a:rPr dirty="0"/>
              <a:t>another</a:t>
            </a:r>
            <a:r>
              <a:rPr spc="530" dirty="0"/>
              <a:t> </a:t>
            </a:r>
            <a:r>
              <a:rPr dirty="0"/>
              <a:t>one</a:t>
            </a:r>
            <a:r>
              <a:rPr spc="535" dirty="0"/>
              <a:t> </a:t>
            </a:r>
            <a:r>
              <a:rPr dirty="0"/>
              <a:t>is</a:t>
            </a:r>
            <a:r>
              <a:rPr spc="525" dirty="0"/>
              <a:t> </a:t>
            </a:r>
            <a:r>
              <a:rPr dirty="0"/>
              <a:t>known</a:t>
            </a:r>
            <a:r>
              <a:rPr spc="520" dirty="0"/>
              <a:t> </a:t>
            </a:r>
            <a:r>
              <a:rPr dirty="0"/>
              <a:t>as</a:t>
            </a:r>
            <a:r>
              <a:rPr spc="530" dirty="0"/>
              <a:t> </a:t>
            </a:r>
            <a:r>
              <a:rPr dirty="0"/>
              <a:t>Full</a:t>
            </a:r>
            <a:r>
              <a:rPr spc="515" dirty="0"/>
              <a:t> </a:t>
            </a:r>
            <a:r>
              <a:rPr dirty="0"/>
              <a:t>Adder</a:t>
            </a:r>
            <a:r>
              <a:rPr spc="530" dirty="0"/>
              <a:t> </a:t>
            </a:r>
            <a:r>
              <a:rPr dirty="0"/>
              <a:t>.The</a:t>
            </a:r>
            <a:r>
              <a:rPr spc="530" dirty="0"/>
              <a:t> </a:t>
            </a:r>
            <a:r>
              <a:rPr spc="-20" dirty="0"/>
              <a:t>half </a:t>
            </a:r>
            <a:r>
              <a:rPr dirty="0"/>
              <a:t>adder</a:t>
            </a:r>
            <a:r>
              <a:rPr spc="535" dirty="0"/>
              <a:t> </a:t>
            </a:r>
            <a:r>
              <a:rPr dirty="0"/>
              <a:t>adds</a:t>
            </a:r>
            <a:r>
              <a:rPr spc="550" dirty="0"/>
              <a:t> </a:t>
            </a:r>
            <a:r>
              <a:rPr dirty="0"/>
              <a:t>two</a:t>
            </a:r>
            <a:r>
              <a:rPr spc="540" dirty="0"/>
              <a:t> </a:t>
            </a:r>
            <a:r>
              <a:rPr dirty="0"/>
              <a:t>binary</a:t>
            </a:r>
            <a:r>
              <a:rPr spc="525" dirty="0"/>
              <a:t> </a:t>
            </a:r>
            <a:r>
              <a:rPr dirty="0"/>
              <a:t>digits</a:t>
            </a:r>
            <a:r>
              <a:rPr spc="535" dirty="0"/>
              <a:t> </a:t>
            </a:r>
            <a:r>
              <a:rPr dirty="0"/>
              <a:t>and</a:t>
            </a:r>
            <a:r>
              <a:rPr spc="540" dirty="0"/>
              <a:t> </a:t>
            </a:r>
            <a:r>
              <a:rPr dirty="0"/>
              <a:t>produces</a:t>
            </a:r>
            <a:r>
              <a:rPr spc="550" dirty="0"/>
              <a:t> </a:t>
            </a:r>
            <a:r>
              <a:rPr dirty="0"/>
              <a:t>two</a:t>
            </a:r>
            <a:r>
              <a:rPr spc="540" dirty="0"/>
              <a:t> </a:t>
            </a:r>
            <a:r>
              <a:rPr dirty="0"/>
              <a:t>outputs</a:t>
            </a:r>
            <a:r>
              <a:rPr spc="545" dirty="0"/>
              <a:t> </a:t>
            </a:r>
            <a:r>
              <a:rPr spc="-25" dirty="0"/>
              <a:t>as </a:t>
            </a:r>
            <a:r>
              <a:rPr dirty="0"/>
              <a:t>sum</a:t>
            </a:r>
            <a:r>
              <a:rPr spc="210" dirty="0"/>
              <a:t> </a:t>
            </a:r>
            <a:r>
              <a:rPr dirty="0"/>
              <a:t>and</a:t>
            </a:r>
            <a:r>
              <a:rPr spc="195" dirty="0"/>
              <a:t> </a:t>
            </a:r>
            <a:r>
              <a:rPr dirty="0"/>
              <a:t>carry.</a:t>
            </a:r>
            <a:r>
              <a:rPr spc="204" dirty="0"/>
              <a:t> </a:t>
            </a:r>
            <a:r>
              <a:rPr dirty="0"/>
              <a:t>It</a:t>
            </a:r>
            <a:r>
              <a:rPr spc="190" dirty="0"/>
              <a:t> </a:t>
            </a:r>
            <a:r>
              <a:rPr dirty="0"/>
              <a:t>consists</a:t>
            </a:r>
            <a:r>
              <a:rPr spc="204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dirty="0"/>
              <a:t>one</a:t>
            </a:r>
            <a:r>
              <a:rPr spc="204" dirty="0"/>
              <a:t> </a:t>
            </a:r>
            <a:r>
              <a:rPr dirty="0"/>
              <a:t>XOR</a:t>
            </a:r>
            <a:r>
              <a:rPr spc="204" dirty="0"/>
              <a:t> </a:t>
            </a:r>
            <a:r>
              <a:rPr dirty="0"/>
              <a:t>logic</a:t>
            </a:r>
            <a:r>
              <a:rPr spc="210" dirty="0"/>
              <a:t> </a:t>
            </a:r>
            <a:r>
              <a:rPr dirty="0"/>
              <a:t>gate</a:t>
            </a:r>
            <a:r>
              <a:rPr spc="204" dirty="0"/>
              <a:t> </a:t>
            </a:r>
            <a:r>
              <a:rPr spc="-10" dirty="0"/>
              <a:t>producing </a:t>
            </a:r>
            <a:r>
              <a:rPr dirty="0"/>
              <a:t>“SUM”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one</a:t>
            </a:r>
            <a:r>
              <a:rPr spc="-19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gate</a:t>
            </a:r>
            <a:r>
              <a:rPr spc="-25" dirty="0"/>
              <a:t> </a:t>
            </a:r>
            <a:r>
              <a:rPr dirty="0"/>
              <a:t>producing</a:t>
            </a:r>
            <a:r>
              <a:rPr spc="730" dirty="0"/>
              <a:t> </a:t>
            </a:r>
            <a:r>
              <a:rPr spc="-10" dirty="0"/>
              <a:t>“CARRY”</a:t>
            </a:r>
            <a:r>
              <a:rPr spc="-2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spc="-10" dirty="0"/>
              <a:t>outputs.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67454" y="5877559"/>
            <a:ext cx="3662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Block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2400" spc="-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969" y="4657344"/>
            <a:ext cx="407337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844" y="-115062"/>
            <a:ext cx="9558655" cy="17576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 algn="just">
              <a:lnSpc>
                <a:spcPts val="3260"/>
              </a:lnSpc>
              <a:spcBef>
                <a:spcPts val="695"/>
              </a:spcBef>
            </a:pP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w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inputs</a:t>
            </a:r>
            <a:r>
              <a:rPr sz="3200" i="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w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outputs</a:t>
            </a:r>
            <a:r>
              <a:rPr sz="3200" i="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3200" i="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i="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i="0" spc="-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75" dirty="0">
                <a:solidFill>
                  <a:srgbClr val="404040"/>
                </a:solidFill>
                <a:latin typeface="Times New Roman"/>
                <a:cs typeface="Times New Roman"/>
              </a:rPr>
              <a:t>Adder.</a:t>
            </a:r>
            <a:r>
              <a:rPr sz="3200" i="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Inputs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named</a:t>
            </a:r>
            <a:r>
              <a:rPr sz="3200" i="0" spc="-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3200" i="0" spc="-2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i="0" spc="-2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B,</a:t>
            </a:r>
            <a:r>
              <a:rPr sz="3200" i="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outputs</a:t>
            </a:r>
            <a:r>
              <a:rPr sz="3200" i="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i="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named</a:t>
            </a:r>
            <a:r>
              <a:rPr sz="3200" i="0" spc="-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3200" i="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)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394585" algn="just">
              <a:lnSpc>
                <a:spcPts val="3260"/>
              </a:lnSpc>
            </a:pP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Figure</a:t>
            </a:r>
            <a:r>
              <a:rPr sz="3200" i="0" spc="-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(1)</a:t>
            </a:r>
            <a:r>
              <a:rPr sz="3200" i="0" spc="5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i="0" spc="-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spc="-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Logic</a:t>
            </a:r>
            <a:r>
              <a:rPr sz="3200" i="0" spc="-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Circuit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945" y="2355804"/>
            <a:ext cx="5592470" cy="3355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446" y="1141221"/>
            <a:ext cx="52565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i="0" spc="-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spc="-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TRUTH</a:t>
            </a:r>
            <a:r>
              <a:rPr sz="3200" i="0" spc="-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60" dirty="0">
                <a:solidFill>
                  <a:srgbClr val="404040"/>
                </a:solidFill>
                <a:latin typeface="Times New Roman"/>
                <a:cs typeface="Times New Roman"/>
              </a:rPr>
              <a:t>TABLE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42767" y="2034032"/>
          <a:ext cx="6812915" cy="3938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7030"/>
                <a:gridCol w="1725295"/>
                <a:gridCol w="1725295"/>
                <a:gridCol w="1725295"/>
              </a:tblGrid>
              <a:tr h="63817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439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OUTPUTS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28575">
                      <a:solidFill>
                        <a:srgbClr val="939F8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381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S(Sum)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C(Carry)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28575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</a:tr>
              <a:tr h="747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939F87"/>
                      </a:solidFill>
                      <a:prstDash val="solid"/>
                    </a:lnL>
                    <a:lnR w="12700">
                      <a:solidFill>
                        <a:srgbClr val="939F87"/>
                      </a:solidFill>
                      <a:prstDash val="solid"/>
                    </a:lnR>
                    <a:lnT w="12700">
                      <a:solidFill>
                        <a:srgbClr val="939F87"/>
                      </a:solidFill>
                      <a:prstDash val="solid"/>
                    </a:lnT>
                    <a:lnB w="12700">
                      <a:solidFill>
                        <a:srgbClr val="939F8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3282" y="530098"/>
            <a:ext cx="6970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3560" algn="l"/>
              </a:tabLst>
            </a:pPr>
            <a:r>
              <a:rPr sz="4000" i="0" spc="60" dirty="0">
                <a:solidFill>
                  <a:srgbClr val="404040"/>
                </a:solidFill>
                <a:latin typeface="Times New Roman"/>
                <a:cs typeface="Times New Roman"/>
              </a:rPr>
              <a:t>LIMI</a:t>
            </a:r>
            <a:r>
              <a:rPr sz="4000" i="0" spc="-26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4000" i="0" spc="-39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4000" i="0" spc="60" dirty="0">
                <a:solidFill>
                  <a:srgbClr val="404040"/>
                </a:solidFill>
                <a:latin typeface="Times New Roman"/>
                <a:cs typeface="Times New Roman"/>
              </a:rPr>
              <a:t>TI</a:t>
            </a:r>
            <a:r>
              <a:rPr sz="4000" i="0" spc="55" dirty="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sz="4000" i="0" spc="114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4000" i="0" dirty="0">
                <a:solidFill>
                  <a:srgbClr val="404040"/>
                </a:solidFill>
                <a:latin typeface="Times New Roman"/>
                <a:cs typeface="Times New Roman"/>
              </a:rPr>
              <a:t>	OF</a:t>
            </a:r>
            <a:r>
              <a:rPr sz="4000" i="0" spc="-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000" i="0" spc="-7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4000" i="0" spc="-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0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7621" rIns="0" bIns="0" rtlCol="0">
            <a:spAutoFit/>
          </a:bodyPr>
          <a:lstStyle/>
          <a:p>
            <a:pPr marL="12700" marR="5080" indent="10160">
              <a:lnSpc>
                <a:spcPct val="90000"/>
              </a:lnSpc>
              <a:spcBef>
                <a:spcPts val="49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major</a:t>
            </a:r>
            <a:r>
              <a:rPr spc="-20" dirty="0"/>
              <a:t> </a:t>
            </a:r>
            <a:r>
              <a:rPr dirty="0"/>
              <a:t>drawback</a:t>
            </a:r>
            <a:r>
              <a:rPr spc="-4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HALF</a:t>
            </a:r>
            <a:r>
              <a:rPr spc="-215" dirty="0"/>
              <a:t> </a:t>
            </a:r>
            <a:r>
              <a:rPr dirty="0"/>
              <a:t>ADDER</a:t>
            </a:r>
            <a:r>
              <a:rPr spc="-20" dirty="0"/>
              <a:t> </a:t>
            </a:r>
            <a:r>
              <a:rPr dirty="0"/>
              <a:t>circuit</a:t>
            </a:r>
            <a:r>
              <a:rPr spc="-3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that</a:t>
            </a:r>
            <a:r>
              <a:rPr spc="-5" dirty="0"/>
              <a:t> </a:t>
            </a:r>
            <a:r>
              <a:rPr dirty="0"/>
              <a:t>it </a:t>
            </a:r>
            <a:r>
              <a:rPr spc="-25" dirty="0"/>
              <a:t>can </a:t>
            </a:r>
            <a:r>
              <a:rPr dirty="0"/>
              <a:t>only</a:t>
            </a:r>
            <a:r>
              <a:rPr spc="-35" dirty="0"/>
              <a:t> </a:t>
            </a:r>
            <a:r>
              <a:rPr dirty="0"/>
              <a:t>add</a:t>
            </a:r>
            <a:r>
              <a:rPr spc="-30" dirty="0"/>
              <a:t> </a:t>
            </a:r>
            <a:r>
              <a:rPr dirty="0"/>
              <a:t>two</a:t>
            </a:r>
            <a:r>
              <a:rPr spc="-25" dirty="0"/>
              <a:t> </a:t>
            </a:r>
            <a:r>
              <a:rPr dirty="0"/>
              <a:t>inputs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if</a:t>
            </a:r>
            <a:r>
              <a:rPr spc="-20" dirty="0"/>
              <a:t> </a:t>
            </a:r>
            <a:r>
              <a:rPr dirty="0"/>
              <a:t>there</a:t>
            </a:r>
            <a:r>
              <a:rPr spc="-3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any</a:t>
            </a:r>
            <a:r>
              <a:rPr spc="-30" dirty="0"/>
              <a:t> </a:t>
            </a:r>
            <a:r>
              <a:rPr dirty="0"/>
              <a:t>carry</a:t>
            </a:r>
            <a:r>
              <a:rPr spc="-30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10" dirty="0"/>
              <a:t>neglected. </a:t>
            </a:r>
            <a:r>
              <a:rPr dirty="0"/>
              <a:t>Thus,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process</a:t>
            </a:r>
            <a:r>
              <a:rPr spc="-5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incomplete.</a:t>
            </a:r>
            <a:r>
              <a:rPr spc="-125" dirty="0"/>
              <a:t> </a:t>
            </a:r>
            <a:r>
              <a:rPr spc="-35" dirty="0"/>
              <a:t>To</a:t>
            </a:r>
            <a:r>
              <a:rPr spc="-30" dirty="0"/>
              <a:t> </a:t>
            </a:r>
            <a:r>
              <a:rPr dirty="0"/>
              <a:t>overcome</a:t>
            </a:r>
            <a:r>
              <a:rPr spc="-7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drawback </a:t>
            </a:r>
            <a:r>
              <a:rPr dirty="0"/>
              <a:t>Full</a:t>
            </a:r>
            <a:r>
              <a:rPr spc="-210" dirty="0"/>
              <a:t> </a:t>
            </a:r>
            <a:r>
              <a:rPr dirty="0"/>
              <a:t>Adder</a:t>
            </a:r>
            <a:r>
              <a:rPr spc="-30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spc="-10" dirty="0"/>
              <a:t>designed.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1594" y="586816"/>
            <a:ext cx="3515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4400" i="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4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747774"/>
            <a:ext cx="9907905" cy="22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ts val="3265"/>
              </a:lnSpc>
              <a:spcBef>
                <a:spcPts val="105"/>
              </a:spcBef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combinational</a:t>
            </a:r>
            <a:r>
              <a:rPr sz="3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circuit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performs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690"/>
              </a:lnSpc>
              <a:tabLst>
                <a:tab pos="3691254" algn="l"/>
              </a:tabLst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addition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operation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	three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digits.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consists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690"/>
              </a:lnSpc>
              <a:tabLst>
                <a:tab pos="4000500" algn="l"/>
              </a:tabLst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inputs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outputs.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	The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inputs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spc="-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690"/>
              </a:lnSpc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third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designated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32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Cin.</a:t>
            </a:r>
            <a:r>
              <a:rPr sz="32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3200">
              <a:latin typeface="Times New Roman"/>
              <a:cs typeface="Times New Roman"/>
            </a:endParaRPr>
          </a:p>
          <a:p>
            <a:pPr marL="12700" marR="312420">
              <a:lnSpc>
                <a:spcPct val="70000"/>
              </a:lnSpc>
              <a:spcBef>
                <a:spcPts val="575"/>
              </a:spcBef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designated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Cout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normal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designated</a:t>
            </a:r>
            <a:r>
              <a:rPr sz="3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9663" y="5890971"/>
            <a:ext cx="3014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Block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r>
              <a:rPr sz="20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20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7150" y="4296155"/>
            <a:ext cx="4333875" cy="1557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2319985"/>
            <a:ext cx="10088880" cy="314833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0"/>
              </a:spcBef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1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circuit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can be</a:t>
            </a:r>
            <a:r>
              <a:rPr sz="32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implemented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two half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adders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OR gate.</a:t>
            </a:r>
            <a:r>
              <a:rPr sz="320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 used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add</a:t>
            </a:r>
            <a:r>
              <a:rPr sz="3200" spc="-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produce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partial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Sum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second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3200">
              <a:latin typeface="Times New Roman"/>
              <a:cs typeface="Times New Roman"/>
            </a:endParaRPr>
          </a:p>
          <a:p>
            <a:pPr marL="12700" marR="274320">
              <a:lnSpc>
                <a:spcPct val="90000"/>
              </a:lnSpc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Cin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Sum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produced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half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final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output.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32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adder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produces</a:t>
            </a:r>
            <a:r>
              <a:rPr sz="3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carry,</a:t>
            </a:r>
            <a:r>
              <a:rPr sz="3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3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carry.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So,</a:t>
            </a:r>
            <a:r>
              <a:rPr sz="32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Cout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will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OR function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 the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outputs.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84"/>
              </a:spcBef>
            </a:pP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Since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 full</a:t>
            </a:r>
            <a:r>
              <a:rPr sz="32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i="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previous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carry</a:t>
            </a:r>
            <a:r>
              <a:rPr sz="32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as an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3200" i="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i="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add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multi-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digit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32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numbers.</a:t>
            </a:r>
            <a:r>
              <a:rPr sz="3200" i="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multi-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digit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numbers</a:t>
            </a:r>
            <a:r>
              <a:rPr sz="3200" i="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i="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added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3200" i="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3200" i="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cascading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connection</a:t>
            </a:r>
            <a:r>
              <a:rPr sz="3200" i="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multiple</a:t>
            </a:r>
            <a:r>
              <a:rPr sz="3200" i="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adders.</a:t>
            </a:r>
            <a:r>
              <a:rPr sz="3200" i="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i="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i="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adders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cascade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connection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equal</a:t>
            </a:r>
            <a:r>
              <a:rPr sz="3200" i="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i="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number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of digits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i="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765" y="1129030"/>
            <a:ext cx="54832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Figure(2)</a:t>
            </a:r>
            <a:r>
              <a:rPr sz="3200" i="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i="0" spc="-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Logic</a:t>
            </a:r>
            <a:r>
              <a:rPr sz="3200" i="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Circuit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8263" y="2190837"/>
            <a:ext cx="5949224" cy="29942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150" y="633221"/>
            <a:ext cx="5290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11120" algn="l"/>
              </a:tabLst>
            </a:pP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i="0" spc="-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3200" i="0" spc="-50" dirty="0">
                <a:solidFill>
                  <a:srgbClr val="404040"/>
                </a:solidFill>
                <a:latin typeface="Times New Roman"/>
                <a:cs typeface="Times New Roman"/>
              </a:rPr>
              <a:t>TRUTH</a:t>
            </a:r>
            <a:r>
              <a:rPr sz="3200" i="0" spc="-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70" dirty="0">
                <a:solidFill>
                  <a:srgbClr val="404040"/>
                </a:solidFill>
                <a:latin typeface="Times New Roman"/>
                <a:cs typeface="Times New Roman"/>
              </a:rPr>
              <a:t>TABLE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60955" y="1965579"/>
          <a:ext cx="8070849" cy="405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4170"/>
                <a:gridCol w="1614170"/>
                <a:gridCol w="1614169"/>
                <a:gridCol w="1614170"/>
                <a:gridCol w="1614170"/>
              </a:tblGrid>
              <a:tr h="405130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56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OUTPUTS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Cin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S(sum)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Cout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(carry)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8750" y="497839"/>
            <a:ext cx="9803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71800" algn="l"/>
                <a:tab pos="3667760" algn="l"/>
                <a:tab pos="6313170" algn="l"/>
                <a:tab pos="7366634" algn="l"/>
              </a:tabLst>
            </a:pP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3200" i="0" spc="-35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i="0" spc="-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i="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3200" i="0" spc="-45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i="0" spc="-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i="0" spc="-25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32" y="1864613"/>
            <a:ext cx="9978390" cy="35871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84"/>
              </a:spcBef>
            </a:pP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There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spc="-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Adder.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circuits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basically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building</a:t>
            </a:r>
            <a:r>
              <a:rPr sz="3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digital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electronics</a:t>
            </a:r>
            <a:r>
              <a:rPr sz="3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device</a:t>
            </a:r>
            <a:r>
              <a:rPr sz="3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Half</a:t>
            </a:r>
            <a:r>
              <a:rPr sz="32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adder</a:t>
            </a:r>
            <a:r>
              <a:rPr sz="32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arithmetical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logical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circuits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320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ALU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These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circuits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mainly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designed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3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addition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 binary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number,</a:t>
            </a:r>
            <a:r>
              <a:rPr sz="32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32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3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3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various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applications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binary</a:t>
            </a:r>
            <a:r>
              <a:rPr sz="32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code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decimal,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address</a:t>
            </a:r>
            <a:r>
              <a:rPr sz="32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decoding,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table</a:t>
            </a:r>
            <a:r>
              <a:rPr sz="3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imes New Roman"/>
                <a:cs typeface="Times New Roman"/>
              </a:rPr>
              <a:t>index </a:t>
            </a:r>
            <a:r>
              <a:rPr sz="3200" dirty="0">
                <a:solidFill>
                  <a:srgbClr val="404040"/>
                </a:solidFill>
                <a:latin typeface="Times New Roman"/>
                <a:cs typeface="Times New Roman"/>
              </a:rPr>
              <a:t>calculation,</a:t>
            </a:r>
            <a:r>
              <a:rPr sz="32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Times New Roman"/>
                <a:cs typeface="Times New Roman"/>
              </a:rPr>
              <a:t>etc.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9157" rIns="0" bIns="0" rtlCol="0">
            <a:spAutoFit/>
          </a:bodyPr>
          <a:lstStyle/>
          <a:p>
            <a:pPr marL="35871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502</Words>
  <Application>Microsoft Office PowerPoint</Application>
  <PresentationFormat>Custom</PresentationFormat>
  <Paragraphs>95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BCA(SCI)FY  Digital Electronics Topic- HALF ADDER and FULL ADDER</vt:lpstr>
      <vt:lpstr>HALF ADDER</vt:lpstr>
      <vt:lpstr>There are two inputs and two outputs in a Half Adder. Inputs are named as A and B, and the outputs are named as Sum (S) and Carry (C). Figure (1) Half Adder Logic Circuit</vt:lpstr>
      <vt:lpstr>HALF ADDER TRUTH TABLE</vt:lpstr>
      <vt:lpstr>LIMITATION OF HALF ADDER</vt:lpstr>
      <vt:lpstr>FULL ADDER</vt:lpstr>
      <vt:lpstr>PowerPoint Presentation</vt:lpstr>
      <vt:lpstr>Since a full adder has the previous carry as an input , it can be used to add multi-digit binary numbers. The multi-digit binary numbers are added by a cascading connection of multiple full adders. The number of full adders in cascade connection is equal to the number of digits to be added.</vt:lpstr>
      <vt:lpstr>Figure(2) Full Adder Logic Circuit</vt:lpstr>
      <vt:lpstr>FULL ADDER TRUTH TABLE</vt:lpstr>
      <vt:lpstr>APPLICATIONS OF HALF ADDER AND FULL ADDER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HALF ADDER</dc:title>
  <dc:creator>S.R. Lahauriya</dc:creator>
  <cp:lastModifiedBy>SAI</cp:lastModifiedBy>
  <cp:revision>1</cp:revision>
  <dcterms:created xsi:type="dcterms:W3CDTF">2025-04-05T04:54:34Z</dcterms:created>
  <dcterms:modified xsi:type="dcterms:W3CDTF">2025-04-05T04:55:35Z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Microsoft® PowerPoint® for Office 365</vt:lpwstr>
  </property>
</Properties>
</file>